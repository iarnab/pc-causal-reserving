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22860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411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411480"/>
            <a:ext cx="2743200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80360" y="411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US · NL Research Initiative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Intelligence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Loss Reserving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01168" y="2423160"/>
            <a:ext cx="8942832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 Reserve Narratives in Explicit Causal Structure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Claude to reason from causal DAGs — not raw triangles — for auditable, counterfactual-capable reserving analysis.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Arnab Gupta (US)  ·  NL Co-Investigators  |  Submitted March 2026  |  Workers Compensation · Schedule 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Why LLMs Fall Short in Reserving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754880" cy="35204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Interpretability Gap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29768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Chain-ladder methods capture historical patterns — not the causal mechanisms behind them.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development deviates, actuaries must manually triangulate across macro data, claims ops records, and institutional memory.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already in use generate code, parse reports, and summarise triangles — but treat data as tabular text with no causal awareness.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cannot distinguish a structural break from tort reform vs. claims inflation — it describes patterns but cannot reason causally.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49240" y="868680"/>
            <a:ext cx="3474720" cy="1600200"/>
          </a:xfrm>
          <a:prstGeom prst="rect">
            <a:avLst/>
          </a:prstGeom>
          <a:solidFill>
            <a:srgbClr val="FFF3F3"/>
          </a:solidFill>
          <a:ln w="12700">
            <a:solidFill>
              <a:srgbClr val="FF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4068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LLM Usage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126187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triangle → general-purpose LLM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description, no causal attribution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auditable, not reproducible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606040"/>
            <a:ext cx="3474720" cy="1783080"/>
          </a:xfrm>
          <a:prstGeom prst="rect">
            <a:avLst/>
          </a:prstGeom>
          <a:solidFill>
            <a:srgbClr val="F0FBF5"/>
          </a:solidFill>
          <a:ln w="12700">
            <a:solidFill>
              <a:srgbClr val="6DC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Adaptation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299923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→ Causal DAG → CCD → LLM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 + counterfactual queries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auditable, RLHF-refined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016171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7589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LLM grounded in an explicit causal DAG of the loss development process produces meaningfully superior reserve narratives compared to the same LLM operating on raw triangle data — in interpretability, causal attribution accuracy, and counterfactual plausibility as rated by qualified reserve actuaries."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26060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70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narrative traceable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specific CCD node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3977640"/>
            <a:ext cx="26060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4270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identified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DAG, not pattern matching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3977640"/>
            <a:ext cx="26060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270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do-calculus queries answered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structured LLM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Five Modular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554480" cy="23774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868680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1280160" cy="182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SQLite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92224" y="1947672"/>
            <a:ext cx="201168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" y="3337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 ingestion, triangle construction, panel normalisation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822960"/>
            <a:ext cx="1554480" cy="2377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868680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1389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48840" y="2084832"/>
            <a:ext cx="1280160" cy="182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(anomalize)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75304" y="1947672"/>
            <a:ext cx="201168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84832" y="3337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Z-scores, diagonal effects, BF vs CL divergence, tail instability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822960"/>
            <a:ext cx="155448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868680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0" y="1389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31920" y="2084832"/>
            <a:ext cx="1280160" cy="182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dagitty / bnlearn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58384" y="1947672"/>
            <a:ext cx="201168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67912" y="3337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encoding, do-calculus queries, driver attribution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822960"/>
            <a:ext cx="1554480" cy="2377440"/>
          </a:xfrm>
          <a:prstGeom prst="rect">
            <a:avLst/>
          </a:prstGeom>
          <a:solidFill>
            <a:srgbClr val="016171"/>
          </a:solidFill>
          <a:ln w="12700">
            <a:solidFill>
              <a:srgbClr val="016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868680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1389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715000" y="2084832"/>
            <a:ext cx="1280160" cy="182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41464" y="1947672"/>
            <a:ext cx="201168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50992" y="3337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Context Document construction, SHA-256 prompt registry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60920" y="822960"/>
            <a:ext cx="1554480" cy="23774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909560" y="868680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06640" y="1389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98080" y="2084832"/>
            <a:ext cx="1280160" cy="182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(httr2)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60920" y="3291840"/>
            <a:ext cx="1554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34072" y="3337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generation, counterfactual articulation, RLHF loop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the final synthesis layer — not the primary analytical engine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DAG: The Loss Development Process (5 Layers)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56032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80467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804672"/>
            <a:ext cx="914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63040" y="804672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Shocks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914400"/>
            <a:ext cx="27432" cy="438912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804672"/>
            <a:ext cx="52120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cycle (GDP, unemployment), tort &amp; legislative environment, medical cost inflation, social inflation proxy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463040"/>
            <a:ext cx="109728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9344"/>
            <a:ext cx="256032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60934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1609344"/>
            <a:ext cx="914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63040" y="1609344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&amp; Mix Shifts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56432" y="1719072"/>
            <a:ext cx="27432" cy="438912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609344"/>
            <a:ext cx="52120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growth by industry, workforce demographics, employer risk profile — mediates macro conditions to claim frequency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267712"/>
            <a:ext cx="109728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14016"/>
            <a:ext cx="25603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41401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2414016"/>
            <a:ext cx="914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63040" y="2414016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Frequency &amp; Severity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56432" y="2523744"/>
            <a:ext cx="27432" cy="438912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414016"/>
            <a:ext cx="52120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claims per unit exposure, average case value by injury type, ALAE/ULAE ratios — proximate drivers of triangle diagonals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072384"/>
            <a:ext cx="109728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18688"/>
            <a:ext cx="256032" cy="658368"/>
          </a:xfrm>
          <a:prstGeom prst="rect">
            <a:avLst/>
          </a:prstGeom>
          <a:solidFill>
            <a:srgbClr val="016171"/>
          </a:solidFill>
          <a:ln w="12700">
            <a:solidFill>
              <a:srgbClr val="0161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21868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" y="3218688"/>
            <a:ext cx="914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63040" y="3218688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Reserve Adequacy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3328416"/>
            <a:ext cx="27432" cy="438912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218688"/>
            <a:ext cx="52120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adequacy ratio, case development patterns, IBNR emergence — captures claims operations effects and adverse/favourable classification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3877056"/>
            <a:ext cx="109728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023360"/>
            <a:ext cx="256032" cy="65836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402336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" y="4023360"/>
            <a:ext cx="914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63040" y="4023360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Factors &amp; Ultimates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56432" y="4133088"/>
            <a:ext cx="27432" cy="438912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4023360"/>
            <a:ext cx="521208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factors by period/cohort, tail factor selection, chain-ladder and BF ultimates, reserve redundancy/deficiency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Innovation: The Causal Context Document (CCD)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CCD is a structured XML document injected into every LLM prompt — transforming raw triangle data into causally pre-processed context.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0972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DAG Subgraph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edges activated by the flagged anomaly — only the causal pathway relevant to this event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206240" cy="10972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898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Node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0992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CPI, unemployment rate, payroll growth for the relevant calendar/accident years where data is available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4206240" cy="10972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0604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9008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(diagonal / cohort / structural), severity score, comparison to peer companies in the same Schedule P dataset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606040"/>
            <a:ext cx="4206240" cy="10972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0604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700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Causal Pathways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99008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DAG-derived d-separation analysis — probability-weighted causal routes to the observed development deviation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10972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8620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50208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Queries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70248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counterfactual scenarios relevant to this anomaly type, formatted as do-calculus specifications for the LLM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Differs from Generic LLM Usage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1C3557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2377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804672"/>
            <a:ext cx="4572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Research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896112"/>
            <a:ext cx="1371600" cy="4572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896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8595360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9616"/>
            <a:ext cx="2377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(LoRA, QLoRA)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24912" y="1591056"/>
            <a:ext cx="18288" cy="457200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499616"/>
            <a:ext cx="4572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insufficient actuarial training data; low interpretability of tuned weights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591056"/>
            <a:ext cx="1371600" cy="4572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5910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24912" y="2286000"/>
            <a:ext cx="18288" cy="457200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CCD functions as structured retrieval, but is deterministic and causally organised, not vector-similarity based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2286000"/>
            <a:ext cx="137160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analogue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8595360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89504"/>
            <a:ext cx="2377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 Engineering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24912" y="2980944"/>
            <a:ext cx="18288" cy="457200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2889504"/>
            <a:ext cx="4572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CCD construction pipeline transforms raw triangle data into causally pre-processed context before LLM exposure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2980944"/>
            <a:ext cx="1371600" cy="45720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9809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84448"/>
            <a:ext cx="2377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LLM + Traditional Model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24912" y="3675888"/>
            <a:ext cx="18288" cy="457200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provides the analytical layer; LLM provides synthesis and articulation. Neither operates alone.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3675888"/>
            <a:ext cx="1371600" cy="45720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279392"/>
            <a:ext cx="8595360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with Domain Expert Feedback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24912" y="4370832"/>
            <a:ext cx="18288" cy="457200"/>
          </a:xfrm>
          <a:prstGeom prst="rect">
            <a:avLst/>
          </a:prstGeom>
          <a:solidFill>
            <a:srgbClr val="C5DAE8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4279392"/>
            <a:ext cx="4572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actuary evaluation loop generates preference data; prompt refinement demonstrated; reward model scoped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4370832"/>
            <a:ext cx="1371600" cy="457200"/>
          </a:xfrm>
          <a:prstGeom prst="rect">
            <a:avLst/>
          </a:prstGeom>
          <a:solidFill>
            <a:srgbClr val="D1ECF1"/>
          </a:solidFill>
          <a:ln w="12700">
            <a:solidFill>
              <a:srgbClr val="D1EC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4370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5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implemented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Query Framework: Three Classes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distinguishing feature of causal models is the ability to answer Pearl's do-calculus intervention questions that correlational methods cannot address.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73152" cy="107899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89888"/>
            <a:ext cx="118872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89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19072" y="1335024"/>
            <a:ext cx="7040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Which upstream causal nodes best explain the observed AY development deviation?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9072" y="1737360"/>
            <a:ext cx="7040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AY1993 adverse development: DAG identifies medical CPI spike + case reserve deterioration as primary nodes.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19072" y="2029968"/>
            <a:ext cx="7040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Scored against documented Schedule P period history (1990-91 recession, tort reform)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96312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606040"/>
            <a:ext cx="11887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2551176"/>
            <a:ext cx="7040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Under do(X = x'), what are the implied changes to age-to-age development factors?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19072" y="2953512"/>
            <a:ext cx="7040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do(medical_inflation = baseline): What would ATA factors look like absent the 1993 medical cost spike?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19072" y="3246120"/>
            <a:ext cx="7040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Actuary panel rating; cross-validated against hindsight Schedule P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12464"/>
            <a:ext cx="73152" cy="107899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822192"/>
            <a:ext cx="118872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22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19072" y="3767328"/>
            <a:ext cx="7040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Had tort reform not occurred in CY2001, what is the counterfactual IBNR?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19072" y="4169664"/>
            <a:ext cx="7040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Tort reform removal scenario: full 1988-1997 development available as objective ground truth.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19072" y="4462272"/>
            <a:ext cx="7040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Plausibility rated by 4-6 FCAS actuaries on 1-5 Likert scale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Architecture: The Actuary Feedback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actuary evaluation loop — generating preference data that refines the system and informs a future reward model.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788920" cy="6400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2788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Output Collection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2084832"/>
            <a:ext cx="182880" cy="182880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anomaly, both baseline and adapted outputs are generated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907792"/>
            <a:ext cx="182880" cy="182880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3464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evaluators without labelling which version is which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730752"/>
            <a:ext cx="182880" cy="182880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5760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 rated output pairs across 5-8 anomaly scenarios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72384" y="2496312"/>
            <a:ext cx="128016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261872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261872"/>
            <a:ext cx="27889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2618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18688" y="1536192"/>
            <a:ext cx="2788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Actuary Evaluation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208483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01168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on 4 dimensions: causal accuracy, narrative coherence, uncertainty expression, actionability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90779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83464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Likert scale with mandatory qualitative justification for scores below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73075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365760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FCAS-credentialed reserve actuaries; R Shiny review interface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16752" y="2496312"/>
            <a:ext cx="128016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1261872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1261872"/>
            <a:ext cx="2788920" cy="6400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2618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3056" y="1536192"/>
            <a:ext cx="2788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Signal &amp; Refinement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27648" y="2084832"/>
            <a:ext cx="182880" cy="18288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201168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 comparisons generate preference data for prompt refinement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7648" y="2907792"/>
            <a:ext cx="182880" cy="18288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283464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reward model scoped and designed (training in post-research phase)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3730752"/>
            <a:ext cx="182880" cy="18288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365760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refinement demonstrated within research scope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 Stack: Full Dependency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97680" cy="512064"/>
          </a:xfrm>
          <a:prstGeom prst="rect">
            <a:avLst/>
          </a:prstGeom>
          <a:solidFill>
            <a:srgbClr val="1C3557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777240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18488" y="777240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49040" y="859536"/>
            <a:ext cx="73152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859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8600" y="1335024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335024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bnlearn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18488" y="1335024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 structure learning and parameter estimation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417320"/>
            <a:ext cx="731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1892808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892808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dagitty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18488" y="1892808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specification, d-separation analysis, do-calculus queries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975104"/>
            <a:ext cx="731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9751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450592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2450592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anomalize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18488" y="2450592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 on ATA factor series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2532888"/>
            <a:ext cx="7315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5328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3008376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3008376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httr2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18488" y="3008376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calls with structured prompt templates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3090672"/>
            <a:ext cx="73152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0906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8600" y="3566160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3566160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jsonlite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18488" y="3566160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XML CCD construction and serialisation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3648456"/>
            <a:ext cx="731520" cy="347472"/>
          </a:xfrm>
          <a:prstGeom prst="rect">
            <a:avLst/>
          </a:prstGeom>
          <a:solidFill>
            <a:srgbClr val="016171"/>
          </a:solidFill>
          <a:ln w="12700">
            <a:solidFill>
              <a:srgbClr val="016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6484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Generator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4123944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4123944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RSQLite / DBI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18488" y="4123944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data persistence and querying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4206240"/>
            <a:ext cx="73152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206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4681728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4681728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openxlsx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618488" y="4681728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 Excel data ingestion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49040" y="4764024"/>
            <a:ext cx="73152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47640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63440" y="777240"/>
            <a:ext cx="4297680" cy="512064"/>
          </a:xfrm>
          <a:prstGeom prst="rect">
            <a:avLst/>
          </a:prstGeom>
          <a:solidFill>
            <a:srgbClr val="1C3557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777240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53328" y="777240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83880" y="859536"/>
            <a:ext cx="73152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83880" y="859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1335024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335024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/ shinydashboard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53328" y="1335024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 RLHF review and evaluation dashboard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83880" y="1417320"/>
            <a:ext cx="731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8388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63440" y="1892808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892808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visNetwork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053328" y="1892808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DAG visualisation in Shiny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83880" y="1975104"/>
            <a:ext cx="731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83880" y="19751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63440" y="2450592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2450592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053328" y="2450592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triangle heatmaps and ATA plots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83880" y="2532888"/>
            <a:ext cx="731520" cy="347472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83880" y="25328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63440" y="3008376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3008376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/ tidyr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053328" y="3008376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data manipulation and reshaping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183880" y="3090672"/>
            <a:ext cx="731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83880" y="30906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63440" y="3566160"/>
            <a:ext cx="4297680" cy="512064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3566160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053328" y="3566160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prompt registry for audit trail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183880" y="3648456"/>
            <a:ext cx="731520" cy="3474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83880" y="36484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663440" y="4123944"/>
            <a:ext cx="4297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4123944"/>
            <a:ext cx="12801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knitr / rmarkdown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053328" y="4123944"/>
            <a:ext cx="2084832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and interim deliverable generation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183880" y="4206240"/>
            <a:ext cx="731520" cy="34747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83880" y="4206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Dashboard Design: Three-Tab Layout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E2EFF7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816352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2112" y="777240"/>
            <a:ext cx="2816352" cy="384048"/>
          </a:xfrm>
          <a:prstGeom prst="rect">
            <a:avLst/>
          </a:prstGeom>
          <a:solidFill>
            <a:srgbClr val="E2EFF7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7772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Explorer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44184" y="777240"/>
            <a:ext cx="2816352" cy="384048"/>
          </a:xfrm>
          <a:prstGeom prst="rect">
            <a:avLst/>
          </a:prstGeom>
          <a:solidFill>
            <a:srgbClr val="E2EFF7"/>
          </a:solidFill>
          <a:ln w="12700">
            <a:solidFill>
              <a:srgbClr val="C5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44184" y="7772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234440"/>
            <a:ext cx="2788920" cy="4114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Anomaly Overview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1810512"/>
            <a:ext cx="146304" cy="14630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719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triangle heatmap (ATA Z-score coloured: Red/Amber/Green)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560320"/>
            <a:ext cx="146304" cy="14630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68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comparison panel — peer group benchmarks from Schedule 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310128"/>
            <a:ext cx="146304" cy="14630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186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effect chart — calendar year adverse/favourable trends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46304" cy="146304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6849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Company | Accident Year | Development Period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123444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1234440"/>
            <a:ext cx="2788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2: Causal Explorer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82696" y="181051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1719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DAG (visNetwork) — click anomaly to highlight activated subgraph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82696" y="256032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468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value panel — quantified driver values for selected accident year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82696" y="331012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32186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ranking — d-separation probability weights per causal route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82696" y="405993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96849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query launcher — diagnostic / intervention / counterfactual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71616" y="1234440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1234440"/>
            <a:ext cx="2788920" cy="4114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3: RLHF Review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1344" y="1810512"/>
            <a:ext cx="146304" cy="146304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1719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narrative viewer — Baseline vs. Adapted (blind-labelled)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1344" y="2560320"/>
            <a:ext cx="146304" cy="146304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468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rating inputs: accuracy, coherence, uncertainty, actionability (1-5)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81344" y="3310128"/>
            <a:ext cx="146304" cy="146304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321868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capture: "Which narrative better supports reserve judgment?"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81344" y="4059936"/>
            <a:ext cx="146304" cy="146304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396849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summary: ratings logged to RSQLite for preference dataset export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7731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coding: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371600" y="4782312"/>
            <a:ext cx="164592" cy="16459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72768" y="47731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Z-score &gt; 2σ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74720" y="4782312"/>
            <a:ext cx="164592" cy="1645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47731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1-2σ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77840" y="4782312"/>
            <a:ext cx="164592" cy="16459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47731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&lt;1σ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Sprint Plan: April – August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612648"/>
          </a:xfrm>
          <a:prstGeom prst="rect">
            <a:avLst/>
          </a:prstGeom>
          <a:solidFill>
            <a:srgbClr val="1C3557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137160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27632" y="804672"/>
            <a:ext cx="155448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9544" y="804672"/>
            <a:ext cx="356616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03136" y="804672"/>
            <a:ext cx="192024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444752"/>
            <a:ext cx="8686800" cy="61264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44752"/>
            <a:ext cx="1371600" cy="6126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444752"/>
            <a:ext cx="137160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73352" y="1444752"/>
            <a:ext cx="1481328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DAG v1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55264" y="1444752"/>
            <a:ext cx="3493008" cy="6126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P SQLite schema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Triangle construction pipeline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Causal DAG v1 (dagitty spec)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macro data merge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03136" y="1508760"/>
            <a:ext cx="1920240" cy="484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508760"/>
            <a:ext cx="1920240" cy="484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DAG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complete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084832"/>
            <a:ext cx="86868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084832"/>
            <a:ext cx="1371600" cy="6126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084832"/>
            <a:ext cx="137160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73352" y="2084832"/>
            <a:ext cx="1481328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55264" y="2084832"/>
            <a:ext cx="3493008" cy="6126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ATA Z-score anomaly detector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Diagonal effects classification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CCD generator v1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LLM evaluation run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03136" y="2148840"/>
            <a:ext cx="1920240" cy="484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03136" y="2148840"/>
            <a:ext cx="1920240" cy="484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24912"/>
            <a:ext cx="8686800" cy="61264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724912"/>
            <a:ext cx="1371600" cy="6126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724912"/>
            <a:ext cx="137160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73352" y="2724912"/>
            <a:ext cx="1481328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 Round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55264" y="2724912"/>
            <a:ext cx="3493008" cy="6126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Counterfactual query framework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Adapted system (CCD+LLM)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round 1 vs. baseline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Interim progress report (26 Jul)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03136" y="2788920"/>
            <a:ext cx="1920240" cy="484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03136" y="2788920"/>
            <a:ext cx="1920240" cy="484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report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26 July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364992"/>
            <a:ext cx="86868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364992"/>
            <a:ext cx="1371600" cy="6126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364992"/>
            <a:ext cx="137160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73352" y="3364992"/>
            <a:ext cx="1481328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&amp;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55264" y="3364992"/>
            <a:ext cx="3493008" cy="6126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RLHF Shiny review interface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Actuary evaluation rounds (2×)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refinement from ratings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Preference dataset compiled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03136" y="3429000"/>
            <a:ext cx="1920240" cy="484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03136" y="3429000"/>
            <a:ext cx="1920240" cy="484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 ratings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4005072"/>
            <a:ext cx="8686800" cy="61264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4005072"/>
            <a:ext cx="1371600" cy="6126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005072"/>
            <a:ext cx="137160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18–22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73352" y="4005072"/>
            <a:ext cx="1481328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Delivery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55264" y="4005072"/>
            <a:ext cx="3493008" cy="6126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paper draft &amp; review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repository (MIT licence)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summary (1-2 pp)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submission by 31 Aug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03136" y="4069080"/>
            <a:ext cx="1920240" cy="484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03136" y="4069080"/>
            <a:ext cx="1920240" cy="484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31 August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Framework: Four Dimensions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dimensions measured for both adapted system and baseline, with statistical significance testing where sample sizes permit.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20624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1399032"/>
            <a:ext cx="27432" cy="246888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280160"/>
            <a:ext cx="3429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801368"/>
            <a:ext cx="3977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LLM-identified drivers match known historical events? Scored against documented Schedule P period history — 1990-91 recession, tort reform activity in early 1990s.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801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80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76088" y="1399032"/>
            <a:ext cx="27432" cy="246888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1280160"/>
            <a:ext cx="3429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Quality (Actuary-Rated)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801368"/>
            <a:ext cx="3977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evaluation by 4-6 FCAS-credentialed actuaries on four sub-dimensions: accuracy, coherence, appropriate uncertainty expression, and actionability (1-5 Likert).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420624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1248" y="3319272"/>
            <a:ext cx="27432" cy="246888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200400"/>
            <a:ext cx="3429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Plausibility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3721608"/>
            <a:ext cx="3977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 panel rating of intervention query responses. Cross-validated against hindsight development data — 1988-1997 full development provides objective ground truth.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200400"/>
            <a:ext cx="4206240" cy="475488"/>
          </a:xfrm>
          <a:prstGeom prst="rect">
            <a:avLst/>
          </a:prstGeom>
          <a:solidFill>
            <a:srgbClr val="935116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004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276088" y="3319272"/>
            <a:ext cx="27432" cy="246888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3200400"/>
            <a:ext cx="34290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Consistency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3721608"/>
            <a:ext cx="3977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variance on identical inputs. Shannon entropy of key output variables across 10 repeated calls. Ensures stability required for actuarial reliance.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Budget: CAS-Funded (EUR 37,000 · 185 NL Hours)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GRANT — Core Research Deliverables  |  NL Research Team  |  April – August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97480" cy="8412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61288"/>
            <a:ext cx="26974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hrs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03492"/>
            <a:ext cx="269748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NL Hours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0672" y="1115568"/>
            <a:ext cx="2697480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90672" y="1161288"/>
            <a:ext cx="26974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200 / hr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90672" y="1603492"/>
            <a:ext cx="269748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1115568"/>
            <a:ext cx="2880360" cy="841248"/>
          </a:xfrm>
          <a:prstGeom prst="rect">
            <a:avLst/>
          </a:prstGeom>
          <a:solidFill>
            <a:srgbClr val="016171"/>
          </a:solidFill>
          <a:ln w="12700">
            <a:solidFill>
              <a:srgbClr val="016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1161288"/>
            <a:ext cx="28803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37,000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97880" y="1603492"/>
            <a:ext cx="288036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 Grant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859536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02996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Total: EUR 37,000  (≈ $40,000 USD)  |  100% NL personnel  |  No indirect cost recovery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859536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05456"/>
            <a:ext cx="250545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53512" y="2505456"/>
            <a:ext cx="277977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2505456"/>
            <a:ext cx="7955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0" y="2505456"/>
            <a:ext cx="8869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(EUR)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0" y="2505456"/>
            <a:ext cx="97840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(EUR)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80944"/>
            <a:ext cx="859536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80944"/>
            <a:ext cx="250545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Lead Researcher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53512" y="2980944"/>
            <a:ext cx="277977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science + causal inference — DAG design, CCD framework, evaluation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2980944"/>
            <a:ext cx="7955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0" y="2980944"/>
            <a:ext cx="8869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/ hr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0" y="2980944"/>
            <a:ext cx="97840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5643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456432"/>
            <a:ext cx="250545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Technical Co-Investigator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53512" y="3456432"/>
            <a:ext cx="277977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implementation, GitHub repository, evaluation infrastructure, RLHF interface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52160" y="3456432"/>
            <a:ext cx="7955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0" y="3456432"/>
            <a:ext cx="8869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/ hr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0" y="3456432"/>
            <a:ext cx="97840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8595360" cy="438912"/>
          </a:xfrm>
          <a:prstGeom prst="rect">
            <a:avLst/>
          </a:prstGeom>
          <a:solidFill>
            <a:srgbClr val="1C3557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931920"/>
            <a:ext cx="250545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NL Personnel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53512" y="3931920"/>
            <a:ext cx="2779776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deliverables per CAS RFP specification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3931920"/>
            <a:ext cx="79552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3931920"/>
            <a:ext cx="8869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hr avg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72400" y="3931920"/>
            <a:ext cx="97840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Infrastructure, API usage, actuary evaluation honoraria, and dissemination costs are funded under Phase 2 (firm match).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Budget: Firm-Matched (EUR 37,000 · Expanded Scope)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MATCH — Overhead + Expanded Scope  |  US + NL Equal Co-Investigators  |  April – August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788920" cy="3474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NL 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904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additional NL hours — extended DAG modelling, more anomaly scenarios, and a richer RLHF preference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15568"/>
            <a:ext cx="2788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Co-Investigator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4904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 hours — actuarial domain review, equal co-authorship, coordination with CAS evaluator network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115568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115568"/>
            <a:ext cx="278892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Delivery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14904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costs, cloud compute, actuary honoraria, CAS conference travel — all overhead in Phase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95728"/>
            <a:ext cx="8595360" cy="38404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395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Total: EUR 37,000  (≈ $40,000 USD)  |  Firm-funded  |  Enables full US/NL co-investigator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8595360" cy="219456"/>
          </a:xfrm>
          <a:prstGeom prst="rect">
            <a:avLst/>
          </a:prstGeom>
          <a:solidFill>
            <a:srgbClr val="1A5276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16352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78808" y="2816352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891272" y="2816352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(EUR)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058668"/>
            <a:ext cx="8595360" cy="21945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58668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NL Research Hours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78808" y="3058668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hrs @ EUR 180/hr — extended DAG modelling, larger actuary panel, extra scenarios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891272" y="3058668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300984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300984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Co-Investigator (Equal Partner)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78808" y="3300984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hrs @ EUR 200/hr — domain review, co-authorship, CAS evaluator coordination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91272" y="3300984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543300"/>
            <a:ext cx="8595360" cy="21945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543300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Claude API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78808" y="3543300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$2,200 equiv. + cloud compute $1,500 + software licences $800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891272" y="3543300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785616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85616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 Evaluation Panel (Extended)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78808" y="3785616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additional FCAS evaluators × 8 hrs @ EUR 150/hr — deeper RLHF dataset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891272" y="3785616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4027932"/>
            <a:ext cx="8595360" cy="21945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27932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 (CAS Meeting)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78808" y="4027932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accommodation, per diem for 1 presenter + CAS registration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891272" y="4027932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4270248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270248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US/NL Coordination &amp; Mgmt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78808" y="4270248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coordination, milestone reporting, joint work sessions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91272" y="4270248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4512564"/>
            <a:ext cx="8595360" cy="219456"/>
          </a:xfrm>
          <a:prstGeom prst="rect">
            <a:avLst/>
          </a:prstGeom>
          <a:solidFill>
            <a:srgbClr val="145A32"/>
          </a:solidFill>
          <a:ln w="12700">
            <a:solidFill>
              <a:srgbClr val="D0E0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512564"/>
            <a:ext cx="3721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Phase 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78808" y="4512564"/>
            <a:ext cx="358444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Firm-matched funding enabling full scope and US/NL co-investigator model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891272" y="4512564"/>
            <a:ext cx="93268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37,000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49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2026 LLM RFP  |  Causal Intelligence for P&amp;C Loss Reserving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reasoning is the next frontier for actuarial AI — moving beyond pattern description to driver attribution and intervention analysis.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CCD architecture is reproducible, auditable, and extensible — any technically proficient actuary can implement and extend it.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open-source release (MIT licence) means the CAS community can build on the framework immediately.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737360"/>
            <a:ext cx="8942832" cy="502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10512"/>
            <a:ext cx="8321040" cy="1719072"/>
          </a:xfrm>
          <a:prstGeom prst="rect">
            <a:avLst/>
          </a:prstGeom>
          <a:solidFill>
            <a:srgbClr val="016171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562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Details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80467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27 March 2026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Smith (esmith@casact.org) and Heather Davis (hdavis@casact.org)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 AI Research Proposal"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research outline, problem description, out-of-pocket expense estimate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639312"/>
            <a:ext cx="1965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Compensation · Schedule 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3639312"/>
            <a:ext cx="1965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August 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639312"/>
            <a:ext cx="1965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$52,000 Budget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3639312"/>
            <a:ext cx="19659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Deliverables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casact.org/article/2026-request-proposals-adapting-large-language-models-llms-specialized-pc-actuarial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Intelligence for P&amp;C Loss Reserving — CAS 2026 LLM RFP</dc:title>
  <dc:subject>PptxGenJS Presentation</dc:subject>
  <dc:creator>Arnab Gupta</dc:creator>
  <cp:lastModifiedBy>Arnab Gupta</cp:lastModifiedBy>
  <cp:revision>1</cp:revision>
  <dcterms:created xsi:type="dcterms:W3CDTF">2026-03-20T11:50:22Z</dcterms:created>
  <dcterms:modified xsi:type="dcterms:W3CDTF">2026-03-20T11:50:22Z</dcterms:modified>
</cp:coreProperties>
</file>