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11480"/>
            <a:ext cx="228600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4114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80360" y="411480"/>
            <a:ext cx="2743200" cy="347472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880360" y="411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US · NL Research Initiative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Intelligence for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P&amp;C Loss Reserving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01168" y="2423160"/>
            <a:ext cx="8942832" cy="50292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14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LLM Reserve Narratives in Explicit Causal Structure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Claude to reason from causal DAGs — not raw triangles — for auditable, counterfactual-capable reserving analysis.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Arnab Gupta (US)  ·  NL Co-Investigators  |  Submitted March 2026  |  Workers Compensation · Schedule 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Why LLMs Fall Short in Reserving Today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754880" cy="352044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64008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Interpretability Gap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42976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Chain-ladder methods capture historical patterns — not the causal mechanisms behind them.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development deviates, actuaries must manually triangulate across macro data, claims ops records, and institutional memory.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already in use generate code, parse reports, and summarise triangles — but treat data as tabular text with no causal awareness.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cannot distinguish a structural break from tort reform vs. claims inflation — it describes patterns but cannot reason causally.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49240" y="868680"/>
            <a:ext cx="3474720" cy="1600200"/>
          </a:xfrm>
          <a:prstGeom prst="rect">
            <a:avLst/>
          </a:prstGeom>
          <a:solidFill>
            <a:srgbClr val="FFF3F3"/>
          </a:solidFill>
          <a:ln w="12700">
            <a:solidFill>
              <a:srgbClr val="FFBBB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40680" y="914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LLM Usage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40680" y="126187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triangle → general-purpose LLM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description, no causal attribution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auditable, not reproducible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49240" y="2606040"/>
            <a:ext cx="3474720" cy="1783080"/>
          </a:xfrm>
          <a:prstGeom prst="rect">
            <a:avLst/>
          </a:prstGeom>
          <a:solidFill>
            <a:srgbClr val="F0FBF5"/>
          </a:solidFill>
          <a:ln w="12700">
            <a:solidFill>
              <a:srgbClr val="6DC98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4068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Adaptation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2999232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→ Causal DAG → CCD → LLM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 + counterfactual queries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auditable, RLHF-refined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2926080"/>
          </a:xfrm>
          <a:prstGeom prst="rect">
            <a:avLst/>
          </a:prstGeom>
          <a:solidFill>
            <a:srgbClr val="016171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LLM grounded in an explicit causal DAG of the loss development process produces meaningfully superior reserve narratives compared to the same LLM operating on raw triangle data — in interpretability, causal attribution accuracy, and counterfactual plausibility as rated by qualified reserve actuaries."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977640"/>
            <a:ext cx="2606040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27024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narrative traceable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specific CCD node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3977640"/>
            <a:ext cx="2606040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427024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identified from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DAG, not pattern matching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26480" y="3977640"/>
            <a:ext cx="2606040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427024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do-calculus queries answered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 structured LLM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Five Modular Components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1554480" cy="237744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868680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868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1280160" cy="182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SQLite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792224" y="1947672"/>
            <a:ext cx="201168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3291840"/>
            <a:ext cx="1554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1752" y="3337560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 ingestion, triangle construction, panel normalisation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11680" y="822960"/>
            <a:ext cx="1554480" cy="23774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0" y="868680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868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057400" y="138988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48840" y="2084832"/>
            <a:ext cx="1280160" cy="182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5740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(anomalize)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75304" y="1947672"/>
            <a:ext cx="201168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3291840"/>
            <a:ext cx="1554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84832" y="3337560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 Z-scores, diagonal effects, BF vs CL divergence, tail instability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94760" y="822960"/>
            <a:ext cx="1554480" cy="2377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43400" y="868680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3400" y="868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840480" y="138988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931920" y="2084832"/>
            <a:ext cx="1280160" cy="182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dagitty / bnlearn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58384" y="1947672"/>
            <a:ext cx="201168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94760" y="3291840"/>
            <a:ext cx="1554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67912" y="3337560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encoding, do-calculus queries, driver attribution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77840" y="822960"/>
            <a:ext cx="1554480" cy="2377440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868680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868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23560" y="138988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715000" y="2084832"/>
            <a:ext cx="1280160" cy="182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2356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141464" y="1947672"/>
            <a:ext cx="201168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77840" y="3291840"/>
            <a:ext cx="1554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50992" y="3337560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Context Document construction, SHA-256 prompt registry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360920" y="822960"/>
            <a:ext cx="1554480" cy="2377440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909560" y="868680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9560" y="868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06640" y="138988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0" y="2084832"/>
            <a:ext cx="1280160" cy="182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664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(httr2)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60920" y="3291840"/>
            <a:ext cx="1554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434072" y="3337560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generation, counterfactual articulation, RLHF loop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74320" y="480060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is the final synthesis layer — not the primary analytical engine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DAG: The Loss Development Process (5 Layers)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56032" cy="65836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804672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804672"/>
            <a:ext cx="91440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463040" y="804672"/>
            <a:ext cx="20116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 Shocks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914400"/>
            <a:ext cx="27432" cy="438912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804672"/>
            <a:ext cx="521208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cycle (GDP, unemployment), tort &amp; legislative environment, medical cost inflation, social inflation proxy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" y="1463040"/>
            <a:ext cx="109728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09344"/>
            <a:ext cx="256032" cy="6583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1609344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1609344"/>
            <a:ext cx="91440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63040" y="1609344"/>
            <a:ext cx="20116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&amp; Mix Shifts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56432" y="1719072"/>
            <a:ext cx="27432" cy="438912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47872" y="1609344"/>
            <a:ext cx="521208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growth by industry, workforce demographics, employer risk profile — mediates macro conditions to claim frequency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7472" y="2267712"/>
            <a:ext cx="109728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414016"/>
            <a:ext cx="256032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414016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2414016"/>
            <a:ext cx="91440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463040" y="2414016"/>
            <a:ext cx="20116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Frequency &amp; Severity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56432" y="2523744"/>
            <a:ext cx="27432" cy="438912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7872" y="2414016"/>
            <a:ext cx="521208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claims per unit exposure, average case value by injury type, ALAE/ULAE ratios — proximate drivers of triangle diagonals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7472" y="3072384"/>
            <a:ext cx="109728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3218688"/>
            <a:ext cx="256032" cy="658368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3218688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66928" y="3218688"/>
            <a:ext cx="91440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16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463040" y="3218688"/>
            <a:ext cx="20116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Reserve Adequacy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56432" y="3328416"/>
            <a:ext cx="27432" cy="438912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218688"/>
            <a:ext cx="521208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adequacy ratio, case development patterns, IBNR emergence — captures claims operations effects and adverse/favourable classification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7472" y="3877056"/>
            <a:ext cx="109728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4023360"/>
            <a:ext cx="256032" cy="658368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4023360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66928" y="4023360"/>
            <a:ext cx="91440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463040" y="4023360"/>
            <a:ext cx="20116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Factors &amp; Ultimates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56432" y="4133088"/>
            <a:ext cx="27432" cy="438912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47872" y="4023360"/>
            <a:ext cx="521208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 factors by period/cohort, tail factor selection, chain-ladder and BF ultimates, reserve redundancy/deficiency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The Causal Context Document (CCD)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CCD is a structured XML document injected into every LLM prompt — transforming raw triangle data into causally pre-processed context.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4206240" cy="10972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32588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DAG Subgraph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09928"/>
            <a:ext cx="3977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activated by the flagged anomaly — only the causal pathway relevant to this event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4206240" cy="10972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32588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389888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Node Values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709928"/>
            <a:ext cx="3977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CPI, unemployment rate, payroll growth for the relevant calendar/accident years where data is available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06040"/>
            <a:ext cx="4206240" cy="10972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60604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70048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Classification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990088"/>
            <a:ext cx="3977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(diagonal / cohort / structural), severity score, comparison to peer companies in the same Schedule P dataset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2606040"/>
            <a:ext cx="4206240" cy="10972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60604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670048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Causal Pathways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990088"/>
            <a:ext cx="3977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DAG-derived d-separation analysis — probability-weighted causal routes to the observed development deviation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886200"/>
            <a:ext cx="8595360" cy="10972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88620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950208"/>
            <a:ext cx="8366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Queries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270248"/>
            <a:ext cx="8366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Pre-defined counterfactual scenarios relevant to this anomaly type, formatted as do-calculus specifications for the LLM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 from Generic LLM Usage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1C3557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04672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Type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804672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in This Research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06640" y="896112"/>
            <a:ext cx="1371600" cy="4572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0" y="8961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499616"/>
            <a:ext cx="8595360" cy="6400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499616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(LoRA, QLoRA)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24912" y="1591056"/>
            <a:ext cx="18288" cy="457200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1499616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— insufficient actuarial training data; low interpretability of tuned weights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06640" y="1591056"/>
            <a:ext cx="13716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15910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19456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24912" y="2286000"/>
            <a:ext cx="18288" cy="457200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CCD functions as structured retrieval, but is deterministic and causally organised, not vector-similarity based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406640" y="2286000"/>
            <a:ext cx="1371600" cy="457200"/>
          </a:xfrm>
          <a:prstGeom prst="rect">
            <a:avLst/>
          </a:prstGeom>
          <a:solidFill>
            <a:srgbClr val="FFF3CD"/>
          </a:solidFill>
          <a:ln w="12700">
            <a:solidFill>
              <a:srgbClr val="FFF3C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analogue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2889504"/>
            <a:ext cx="8595360" cy="6400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889504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Context Engineering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24912" y="2980944"/>
            <a:ext cx="18288" cy="457200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2889504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CCD construction pipeline transforms raw triangle data into causally pre-processed context before LLM exposure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06640" y="2980944"/>
            <a:ext cx="137160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9809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contribution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358444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584448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LLM + Traditional Model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24912" y="3675888"/>
            <a:ext cx="18288" cy="457200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88920" y="3584448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provides the analytical layer; LLM provides synthesis and articulation. Neither operates alone.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06640" y="3675888"/>
            <a:ext cx="137160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implemented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279392"/>
            <a:ext cx="8595360" cy="640080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279392"/>
            <a:ext cx="237744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with Domain Expert Feedback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24912" y="4370832"/>
            <a:ext cx="18288" cy="457200"/>
          </a:xfrm>
          <a:prstGeom prst="rect">
            <a:avLst/>
          </a:prstGeom>
          <a:solidFill>
            <a:srgbClr val="C5DAE8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8920" y="4279392"/>
            <a:ext cx="457200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actuary evaluation loop generates preference data; prompt refinement demonstrated; reward model scoped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06640" y="4370832"/>
            <a:ext cx="1371600" cy="457200"/>
          </a:xfrm>
          <a:prstGeom prst="rect">
            <a:avLst/>
          </a:prstGeom>
          <a:solidFill>
            <a:srgbClr val="D1ECF1"/>
          </a:solidFill>
          <a:ln w="12700">
            <a:solidFill>
              <a:srgbClr val="D1EC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0" y="43708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C5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implemented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Query Framework: Three Classes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distinguishing feature of causal models is the ability to answer Pearl's do-calculus intervention questions that correlational methods cannot address.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8595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80160"/>
            <a:ext cx="73152" cy="107899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" y="1389888"/>
            <a:ext cx="11887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38988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19072" y="1335024"/>
            <a:ext cx="704088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Which upstream causal nodes best explain the observed AY development deviation?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19072" y="1737360"/>
            <a:ext cx="70408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AY1993 adverse development: DAG identifies medical CPI spike + case reserve deterioration as primary nodes.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19072" y="2029968"/>
            <a:ext cx="70408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Scored against documented Schedule P period history (1990-91 recession, tort reform)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496312"/>
            <a:ext cx="8595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496312"/>
            <a:ext cx="7315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606040"/>
            <a:ext cx="11887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6060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19072" y="2551176"/>
            <a:ext cx="704088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Under do(X = x'), what are the implied changes to age-to-age development factors?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9072" y="2953512"/>
            <a:ext cx="70408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do(medical_inflation = baseline): What would ATA factors look like absent the 1993 medical cost spike?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19072" y="3246120"/>
            <a:ext cx="70408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Actuary panel rating; cross-validated against hindsight Schedule P 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712464"/>
            <a:ext cx="8595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712464"/>
            <a:ext cx="73152" cy="1078992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" y="3822192"/>
            <a:ext cx="1188720" cy="347472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38221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19072" y="3767328"/>
            <a:ext cx="704088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Had tort reform not occurred in CY2001, what is the counterfactual IBNR?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719072" y="4169664"/>
            <a:ext cx="70408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Tort reform removal scenario: full 1988-1997 development available as objective ground truth.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719072" y="4462272"/>
            <a:ext cx="70408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Plausibility rated by 4-6 FCAS actuaries on 1-5 Likert scale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Architecture: The Actuary Feedback Loop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actuary evaluation loop — generating preference data that refines the system and informs a future reward model.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2788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61872"/>
            <a:ext cx="2788920" cy="64008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61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536192"/>
            <a:ext cx="27889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Output Collection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" y="2084832"/>
            <a:ext cx="182880" cy="182880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anomaly, both baseline and adapted outputs are generated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" y="2907792"/>
            <a:ext cx="182880" cy="182880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3464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 evaluators without labelling which version is which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" y="3730752"/>
            <a:ext cx="182880" cy="182880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5760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40-60 rated output pairs across 5-8 anomaly scenarios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2384" y="2496312"/>
            <a:ext cx="128016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18688" y="1261872"/>
            <a:ext cx="2788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18688" y="1261872"/>
            <a:ext cx="278892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18688" y="1261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18688" y="1536192"/>
            <a:ext cx="27889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Actuary Evaluation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383280" y="2084832"/>
            <a:ext cx="182880" cy="182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0168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on 4 dimensions: causal accuracy, narrative coherence, uncertainty expression, actionability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83280" y="2907792"/>
            <a:ext cx="182880" cy="182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0168" y="283464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Likert scale with mandatory qualitative justification for scores below 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730752"/>
            <a:ext cx="182880" cy="182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0168" y="365760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FCAS-credentialed reserve actuaries; R Shiny review interface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2496312"/>
            <a:ext cx="128016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63056" y="1261872"/>
            <a:ext cx="2788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63056" y="1261872"/>
            <a:ext cx="2788920" cy="640080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1261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63056" y="1536192"/>
            <a:ext cx="27889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Signal &amp; Refinement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327648" y="2084832"/>
            <a:ext cx="182880" cy="182880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74536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comparisons generate preference data for prompt refinement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27648" y="2907792"/>
            <a:ext cx="182880" cy="182880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74536" y="283464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reward model scoped and designed (training in post-research phase)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27648" y="3730752"/>
            <a:ext cx="182880" cy="182880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74536" y="365760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refinement demonstrated within research scope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Package Stack: Full Dependency Table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4297680" cy="512064"/>
          </a:xfrm>
          <a:prstGeom prst="rect">
            <a:avLst/>
          </a:prstGeom>
          <a:solidFill>
            <a:srgbClr val="1C3557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777240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18488" y="777240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49040" y="859536"/>
            <a:ext cx="7315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8595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8600" y="1335024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" y="1335024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bnlearn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18488" y="1335024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 structure learning and parameter estimation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49040" y="1417320"/>
            <a:ext cx="7315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14173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DAG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8600" y="1892808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" y="1892808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dagitty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18488" y="1892808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specification, d-separation analysis, do-calculus queries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49040" y="1975104"/>
            <a:ext cx="7315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97510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DAG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28600" y="2450592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2450592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anomalize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618488" y="2450592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anomaly detection on ATA factor series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49040" y="2532888"/>
            <a:ext cx="731520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5328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28600" y="3008376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1752" y="3008376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httr2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618488" y="3008376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calls with structured prompt templates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49040" y="3090672"/>
            <a:ext cx="731520" cy="347472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309067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Synthesis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28600" y="3566160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" y="3566160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jsonlite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18488" y="3566160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XML CCD construction and serialisation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749040" y="3648456"/>
            <a:ext cx="731520" cy="347472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0" y="364845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CCD Generator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28600" y="4123944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1752" y="4123944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RSQLite / DBI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618488" y="4123944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data persistence and querying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49040" y="4206240"/>
            <a:ext cx="7315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49040" y="42062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28600" y="4681728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1752" y="4681728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openxlsx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618488" y="4681728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 Excel data ingestion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49040" y="4764024"/>
            <a:ext cx="7315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49040" y="47640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63440" y="777240"/>
            <a:ext cx="4297680" cy="512064"/>
          </a:xfrm>
          <a:prstGeom prst="rect">
            <a:avLst/>
          </a:prstGeom>
          <a:solidFill>
            <a:srgbClr val="1C3557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777240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53328" y="777240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183880" y="859536"/>
            <a:ext cx="7315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83880" y="8595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663440" y="1335024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36592" y="1335024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/ shinydashboard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053328" y="1335024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RLHF review and evaluation dashboard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183880" y="1417320"/>
            <a:ext cx="731520" cy="3474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183880" y="14173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663440" y="1892808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36592" y="1892808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visNetwork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053328" y="1892808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DAG visualisation in Shiny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183880" y="1975104"/>
            <a:ext cx="731520" cy="3474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83880" y="197510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663440" y="2450592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36592" y="2450592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053328" y="2450592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triangle heatmaps and ATA plots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183880" y="2532888"/>
            <a:ext cx="731520" cy="347472"/>
          </a:xfrm>
          <a:prstGeom prst="rect">
            <a:avLst/>
          </a:prstGeom>
          <a:solidFill>
            <a:srgbClr val="935116"/>
          </a:solidFill>
          <a:ln w="12700">
            <a:solidFill>
              <a:srgbClr val="93511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83880" y="25328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663440" y="3008376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36592" y="3008376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dplyr / tidyr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053328" y="3008376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data manipulation and reshaping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8183880" y="3090672"/>
            <a:ext cx="731520" cy="3474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83880" y="309067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663440" y="3566160"/>
            <a:ext cx="4297680" cy="512064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36592" y="3566160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053328" y="3566160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prompt registry for audit trail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183880" y="3648456"/>
            <a:ext cx="731520" cy="34747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183880" y="364845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663440" y="4123944"/>
            <a:ext cx="42976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36592" y="4123944"/>
            <a:ext cx="1280160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knitr / rmarkdown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6053328" y="4123944"/>
            <a:ext cx="2084832" cy="5120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and interim deliverable generation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8183880" y="4206240"/>
            <a:ext cx="731520" cy="34747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83880" y="42062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 Design: Three-Tab Layout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384048"/>
          </a:xfrm>
          <a:prstGeom prst="rect">
            <a:avLst/>
          </a:prstGeom>
          <a:solidFill>
            <a:srgbClr val="E2EFF7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777240"/>
            <a:ext cx="2816352" cy="3840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772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Overview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82112" y="777240"/>
            <a:ext cx="2816352" cy="384048"/>
          </a:xfrm>
          <a:prstGeom prst="rect">
            <a:avLst/>
          </a:prstGeom>
          <a:solidFill>
            <a:srgbClr val="E2EFF7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82112" y="7772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Explorer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44184" y="777240"/>
            <a:ext cx="2816352" cy="384048"/>
          </a:xfrm>
          <a:prstGeom prst="rect">
            <a:avLst/>
          </a:prstGeom>
          <a:solidFill>
            <a:srgbClr val="E2EFF7"/>
          </a:solidFill>
          <a:ln w="12700">
            <a:solidFill>
              <a:srgbClr val="C5DA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44184" y="7772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Review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234440"/>
            <a:ext cx="27889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234440"/>
            <a:ext cx="2788920" cy="41148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1234440"/>
            <a:ext cx="265176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1: Anomaly Overview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" y="1810512"/>
            <a:ext cx="146304" cy="146304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171907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triangle heatmap (ATA Z-score coloured: Red/Amber/Green)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84048" y="2560320"/>
            <a:ext cx="146304" cy="146304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4688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comparison panel — peer group benchmarks from Schedule 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" y="3310128"/>
            <a:ext cx="146304" cy="146304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21868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effect chart — calendar year adverse/favourable trends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84048" y="4059936"/>
            <a:ext cx="146304" cy="146304"/>
          </a:xfrm>
          <a:prstGeom prst="ellipse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968496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Company | Accident Year | Development Period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72968" y="1234440"/>
            <a:ext cx="27889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72968" y="1234440"/>
            <a:ext cx="27889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1234440"/>
            <a:ext cx="265176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2: Causal Explorer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82696" y="1810512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171907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DAG (visNetwork) — click anomaly to highlight activated subgraph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82696" y="2560320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24688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value panel — quantified driver values for selected accident year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82696" y="3310128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3008" y="321868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ranking — d-separation probability weights per causal route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82696" y="4059936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93008" y="3968496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query launcher — diagnostic / intervention / counterfactual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71616" y="1234440"/>
            <a:ext cx="27889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71616" y="1234440"/>
            <a:ext cx="2788920" cy="411480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44768" y="1234440"/>
            <a:ext cx="265176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3: RLHF Review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1344" y="1810512"/>
            <a:ext cx="146304" cy="146304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91656" y="171907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narrative viewer — Baseline vs. Adapted (blind-labelled)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81344" y="2560320"/>
            <a:ext cx="146304" cy="146304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91656" y="24688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rating inputs: accuracy, coherence, uncertainty, actionability (1-5)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81344" y="3310128"/>
            <a:ext cx="146304" cy="146304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91656" y="321868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capture: "Which narrative better supports reserve judgment?"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81344" y="4059936"/>
            <a:ext cx="146304" cy="146304"/>
          </a:xfrm>
          <a:prstGeom prst="ellipse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91656" y="3968496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summary: ratings logged to RSQLite for preference dataset export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0040" y="477316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coding: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371600" y="4782312"/>
            <a:ext cx="164592" cy="164592"/>
          </a:xfrm>
          <a:prstGeom prst="rect">
            <a:avLst/>
          </a:prstGeom>
          <a:solidFill>
            <a:srgbClr val="E84040"/>
          </a:solidFill>
          <a:ln w="12700">
            <a:solidFill>
              <a:srgbClr val="E8404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72768" y="4773168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Z-score &gt; 2σ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474720" y="4782312"/>
            <a:ext cx="164592" cy="164592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75888" y="4773168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— 1-2σ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577840" y="4782312"/>
            <a:ext cx="164592" cy="16459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79008" y="4773168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&lt;1σ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Sprint Plan: April – August 2026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86868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80467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627632" y="804672"/>
            <a:ext cx="155448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9544" y="804672"/>
            <a:ext cx="356616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Deliverables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03136" y="804672"/>
            <a:ext cx="192024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444752"/>
            <a:ext cx="8686800" cy="61264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1444752"/>
            <a:ext cx="13716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44475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73352" y="1444752"/>
            <a:ext cx="1481328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DAG v1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55264" y="1444752"/>
            <a:ext cx="3493008" cy="6126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Schedule P SQLite schema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Triangle construction pipeline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Causal DAG v1 (dagitty spec)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macro data merge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03136" y="1508760"/>
            <a:ext cx="1920240" cy="484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03136" y="1508760"/>
            <a:ext cx="1920240" cy="4846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DAG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complete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8600" y="2084832"/>
            <a:ext cx="868680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2084832"/>
            <a:ext cx="13716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208483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73352" y="2084832"/>
            <a:ext cx="1481328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Engine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Baseline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55264" y="2084832"/>
            <a:ext cx="3493008" cy="6126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ATA Z-score anomaly detector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Diagonal effects classification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CCD generator v1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LLM evaluation run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2148840"/>
            <a:ext cx="1920240" cy="484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03136" y="2148840"/>
            <a:ext cx="1920240" cy="4846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8600" y="2724912"/>
            <a:ext cx="8686800" cy="61264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2724912"/>
            <a:ext cx="13716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272491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9–13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73352" y="2724912"/>
            <a:ext cx="1481328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System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Eval Round 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55264" y="2724912"/>
            <a:ext cx="3493008" cy="6126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Counterfactual query framework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Adapted system (CCD+LLM)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Evaluation round 1 vs. baseline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Interim progress report (26 Jul)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03136" y="2788920"/>
            <a:ext cx="1920240" cy="484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03136" y="2788920"/>
            <a:ext cx="1920240" cy="4846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report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26 July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8600" y="3364992"/>
            <a:ext cx="868680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3364992"/>
            <a:ext cx="13716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336499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73352" y="3364992"/>
            <a:ext cx="1481328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&amp; Analysis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55264" y="3364992"/>
            <a:ext cx="3493008" cy="6126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RLHF Shiny review interface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Actuary evaluation rounds (2×)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Prompt refinement from ratings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Preference dataset compiled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03136" y="3429000"/>
            <a:ext cx="1920240" cy="484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03136" y="3429000"/>
            <a:ext cx="1920240" cy="4846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ratings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28600" y="4005072"/>
            <a:ext cx="8686800" cy="61264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8600" y="4005072"/>
            <a:ext cx="1371600" cy="6126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" y="4005072"/>
            <a:ext cx="137160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18–22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673352" y="4005072"/>
            <a:ext cx="1481328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&amp; Delivery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55264" y="4005072"/>
            <a:ext cx="3493008" cy="6126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Research paper draft &amp; review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repository (MIT licence)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 summary (1-2 pp)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submission by 31 Aug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803136" y="4069080"/>
            <a:ext cx="1920240" cy="484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803136" y="4069080"/>
            <a:ext cx="1920240" cy="4846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deliverables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31 August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Framework: Four Dimensions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dimensions measured for both adapted system and baseline, with statistical significance testing where sample sizes permit.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80160"/>
            <a:ext cx="4206240" cy="47548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1399032"/>
            <a:ext cx="27432" cy="246888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80160"/>
            <a:ext cx="34290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 Accuracy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801368"/>
            <a:ext cx="39776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LLM-identified drivers match known historical events? Scored against documented Schedule P period history — 1990-91 recession, tort reform activity in early 1990s.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280160"/>
            <a:ext cx="420624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2801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76088" y="1399032"/>
            <a:ext cx="27432" cy="246888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7528" y="1280160"/>
            <a:ext cx="34290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Quality (Actuary-Rated)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18888" y="1801368"/>
            <a:ext cx="39776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evaluation by 4-6 FCAS-credentialed actuaries on four sub-dimensions: accuracy, coherence, appropriate uncertainty expression, and actionability (1-5 Likert).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20040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200400"/>
            <a:ext cx="4206240" cy="475488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004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41248" y="3319272"/>
            <a:ext cx="27432" cy="246888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3200400"/>
            <a:ext cx="34290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Plausibility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" y="3721608"/>
            <a:ext cx="39776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panel rating of intervention query responses. Cross-validated against hindsight development data — 1988-1997 full development provides objective ground truth.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320040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200400"/>
            <a:ext cx="4206240" cy="475488"/>
          </a:xfrm>
          <a:prstGeom prst="rect">
            <a:avLst/>
          </a:prstGeom>
          <a:solidFill>
            <a:srgbClr val="935116"/>
          </a:solidFill>
          <a:ln w="12700">
            <a:solidFill>
              <a:srgbClr val="935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32004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276088" y="3319272"/>
            <a:ext cx="27432" cy="246888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67528" y="3200400"/>
            <a:ext cx="34290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Consistency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18888" y="3721608"/>
            <a:ext cx="39776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variance on identical inputs. Shannon entropy of key output variables across 10 repeated calls. Ensures stability required for actuarial reliance.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Budget: CAS-Funded (EUR 37,000 · 185 NL Hours)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GRANT — Core Research Deliverables  |  NL Research Team  |  April – August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697480" cy="84124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161288"/>
            <a:ext cx="269748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hrs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" y="1603492"/>
            <a:ext cx="269748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NL Hours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90672" y="1115568"/>
            <a:ext cx="2697480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90672" y="1161288"/>
            <a:ext cx="269748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200 / hr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090672" y="1603492"/>
            <a:ext cx="269748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97880" y="1115568"/>
            <a:ext cx="2880360" cy="841248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97880" y="1161288"/>
            <a:ext cx="28803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37,000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897880" y="1603492"/>
            <a:ext cx="288036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 Grant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029968"/>
            <a:ext cx="8595360" cy="41148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4320" y="202996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Total: EUR 37,000  (≈ $40,000 USD)  |  100% NL personnel  |  No indirect cost recovery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2505456"/>
            <a:ext cx="8595360" cy="438912"/>
          </a:xfrm>
          <a:prstGeom prst="rect">
            <a:avLst/>
          </a:prstGeom>
          <a:solidFill>
            <a:srgbClr val="1A5276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505456"/>
            <a:ext cx="250545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53512" y="2505456"/>
            <a:ext cx="277977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52160" y="2505456"/>
            <a:ext cx="79552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766560" y="2505456"/>
            <a:ext cx="88696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(EUR)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0" y="2505456"/>
            <a:ext cx="97840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(EUR)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2980944"/>
            <a:ext cx="8595360" cy="438912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980944"/>
            <a:ext cx="250545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Lead Researcher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953512" y="2980944"/>
            <a:ext cx="277977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Actuarial science + causal inference — DAG design, CCD framework, evaluation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52160" y="2980944"/>
            <a:ext cx="79552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66560" y="2980944"/>
            <a:ext cx="88696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/ hr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72400" y="2980944"/>
            <a:ext cx="97840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22,500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456432"/>
            <a:ext cx="8595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456432"/>
            <a:ext cx="250545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Technical Co-Investigator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953512" y="3456432"/>
            <a:ext cx="277977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implementation, GitHub repository, evaluation infrastructure, RLHF interface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52160" y="3456432"/>
            <a:ext cx="79552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6560" y="3456432"/>
            <a:ext cx="88696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 / hr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72400" y="3456432"/>
            <a:ext cx="97840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14,500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931920"/>
            <a:ext cx="8595360" cy="438912"/>
          </a:xfrm>
          <a:prstGeom prst="rect">
            <a:avLst/>
          </a:prstGeom>
          <a:solidFill>
            <a:srgbClr val="1C3557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931920"/>
            <a:ext cx="250545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— NL Personnel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953512" y="3931920"/>
            <a:ext cx="2779776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research deliverables per CAS RFP specification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3931920"/>
            <a:ext cx="79552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66560" y="3931920"/>
            <a:ext cx="88696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/ hr avg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772400" y="3931920"/>
            <a:ext cx="978408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37,000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74320" y="46634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Infrastructure, API usage, actuary evaluation honoraria, and dissemination costs are funded under Phase 2 (firm match).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Budget: Firm-Matched (EUR 37,000 · Expanded Scope)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MATCH — Overhead + Expanded Scope  |  US + NL Equal Co-Investigators  |  April – August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7889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15568"/>
            <a:ext cx="2788920" cy="347472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15568"/>
            <a:ext cx="260604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NL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490472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additional NL hours — extended DAG modelling, more anomaly scenarios, and a richer RLHF preference dataset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115568"/>
            <a:ext cx="27889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1115568"/>
            <a:ext cx="27889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1115568"/>
            <a:ext cx="260604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Co-Investigator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0128" y="1490472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US hours — actuarial domain review, equal co-authorship, coordination with CAS evaluator network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63056" y="1115568"/>
            <a:ext cx="27889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115568"/>
            <a:ext cx="2788920" cy="347472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4496" y="1115568"/>
            <a:ext cx="260604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Delivery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1490472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costs, cloud compute, actuary honoraria, CAS conference travel — all overhead in Phase 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395728"/>
            <a:ext cx="8595360" cy="384048"/>
          </a:xfrm>
          <a:prstGeom prst="rect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39572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Total: EUR 37,000  (≈ $40,000 USD)  |  Firm-funded  |  Enables full US/NL co-investigator model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2816352"/>
            <a:ext cx="8595360" cy="219456"/>
          </a:xfrm>
          <a:prstGeom prst="rect">
            <a:avLst/>
          </a:prstGeom>
          <a:solidFill>
            <a:srgbClr val="1A5276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816352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78808" y="2816352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891272" y="2816352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(EUR)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3058668"/>
            <a:ext cx="8595360" cy="219456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058668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NL Research Hours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178808" y="3058668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hrs @ EUR 180/hr — extended DAG modelling, larger actuary panel, extra scenarios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891272" y="3058668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3300984"/>
            <a:ext cx="85953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300984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Co-Investigator (Equal Partner)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178808" y="3300984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hrs @ EUR 200/hr — domain review, co-authorship, CAS evaluator coordination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891272" y="3300984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74320" y="3543300"/>
            <a:ext cx="8595360" cy="219456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543300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Claude API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178808" y="3543300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$2,200 equiv. + cloud compute $1,500 + software licences $800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891272" y="3543300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4,500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785616"/>
            <a:ext cx="85953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785616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Evaluation Panel (Extended)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178808" y="3785616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additional FCAS evaluators × 8 hrs @ EUR 150/hr — deeper RLHF dataset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891272" y="3785616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" y="4027932"/>
            <a:ext cx="8595360" cy="219456"/>
          </a:xfrm>
          <a:prstGeom prst="rect">
            <a:avLst/>
          </a:prstGeom>
          <a:solidFill>
            <a:srgbClr val="EAF4FB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027932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Dissemination (CAS Meeting)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178808" y="4027932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Travel, accommodation, per diem for 1 presenter + CAS registration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891272" y="4027932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74320" y="4270248"/>
            <a:ext cx="85953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4270248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US/NL Coordination &amp; Mgmt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178808" y="4270248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coordination, milestone reporting, joint work sessions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891272" y="4270248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4512564"/>
            <a:ext cx="8595360" cy="219456"/>
          </a:xfrm>
          <a:prstGeom prst="rect">
            <a:avLst/>
          </a:prstGeom>
          <a:solidFill>
            <a:srgbClr val="145A32"/>
          </a:solidFill>
          <a:ln w="12700">
            <a:solidFill>
              <a:srgbClr val="D0E0E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512564"/>
            <a:ext cx="372160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— Phase 2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178808" y="4512564"/>
            <a:ext cx="358444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Firm-matched funding enabling full scope and US/NL co-investigator model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7891272" y="4512564"/>
            <a:ext cx="932688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37,000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2026 LLM RFP  |  Causal Intelligence for P&amp;C Loss Reserving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Research Matters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reasoning is the next frontier for actuarial AI — moving beyond pattern description to driver attribution and intervention analysis.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CCD architecture is reproducible, auditable, and extensible — any technically proficient actuary can implement and extend it.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open-source release (MIT licence) means the CAS community can build on the framework immediately.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" y="1737360"/>
            <a:ext cx="8942832" cy="50292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10512"/>
            <a:ext cx="8321040" cy="1719072"/>
          </a:xfrm>
          <a:prstGeom prst="rect">
            <a:avLst/>
          </a:prstGeom>
          <a:solidFill>
            <a:srgbClr val="016171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5623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Details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31136"/>
            <a:ext cx="804672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Friday, 27 March 2026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Smith (esmith@casact.org) and Heather Davis (hdavis@casact.org)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line: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 AI Research Proposal"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research outline, problem description, out-of-pocket expense estimate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639312"/>
            <a:ext cx="1965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39312"/>
            <a:ext cx="196596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Compensation · Schedule 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3639312"/>
            <a:ext cx="1965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3639312"/>
            <a:ext cx="196596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– August 2026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3639312"/>
            <a:ext cx="1965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3639312"/>
            <a:ext cx="196596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$52,000 Budget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766560" y="3639312"/>
            <a:ext cx="1965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3639312"/>
            <a:ext cx="196596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Deliverables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422452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casact.org/article/2026-request-proposals-adapting-large-language-models-llms-specialized-pc-actuarial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Concept: Substantial Prior Work Already Complete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package actuarialcausalintelligence v0.1.0 · github.com/iarnab/pc-causal-reserving · MPL-2.0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65960" cy="9144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5361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main branch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1005840"/>
            <a:ext cx="196596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50592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50592" y="15361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tables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26864" y="1005840"/>
            <a:ext cx="1965960" cy="914400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5361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layer files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written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03136" y="1005840"/>
            <a:ext cx="1965960" cy="9144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03136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803136" y="15361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029968"/>
            <a:ext cx="196596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0756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74320" y="25603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package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(DESCRIPTION)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50592" y="2029968"/>
            <a:ext cx="1965960" cy="914400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450592" y="20756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450592" y="25603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testthat 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26864" y="2029968"/>
            <a:ext cx="1965960" cy="9144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20756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1 500+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626864" y="25603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03136" y="2029968"/>
            <a:ext cx="196596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03136" y="20756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803136" y="25603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(--as-cran)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3063240"/>
            <a:ext cx="4206240" cy="14813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3063240"/>
            <a:ext cx="64008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090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Fully Implemented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401568"/>
            <a:ext cx="164592" cy="1554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340156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SQLite schema, migrations, ATA factors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3602736"/>
            <a:ext cx="164592" cy="1554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602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Z-score + diagonal regression anomaly detection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3803904"/>
            <a:ext cx="164592" cy="1554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38039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dagitty DAG, do-calculus, CCD XML generation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4005072"/>
            <a:ext cx="164592" cy="1554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0050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Claude API client (httr2, retry, temperature=0)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4206240"/>
            <a:ext cx="164592" cy="1554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206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KPMG System Card + Shiny 5-tab dashboard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663440" y="3063240"/>
            <a:ext cx="4206240" cy="14813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663440" y="3063240"/>
            <a:ext cx="64008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090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Grant-Period Deliverables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46320" y="3401568"/>
            <a:ext cx="164592" cy="15544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74920" y="340156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Multi-LOB expansion (CA, OL, MM beyond WC)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846320" y="3602736"/>
            <a:ext cx="164592" cy="15544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4920" y="3602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eval harness — counterfactual accuracy metrics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846320" y="3803904"/>
            <a:ext cx="164592" cy="15544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4920" y="38039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panel (4–5 FCAS raters, structured feedback UI)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846320" y="4005072"/>
            <a:ext cx="164592" cy="15544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74920" y="40050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Python orchestration (agents/ pipeline)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846320" y="4206240"/>
            <a:ext cx="164592" cy="15544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74920" y="4206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E-Forum paper + reproducible release package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17 ADDED: Surfacing prior-work maturity to reduce perceived execution risk for reviewers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Trusted AI System Card — Governance Framework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 in R/layer5_system_card.R  ·  70% automated metrics + 30% FCAS actuary attestation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005840"/>
            <a:ext cx="4572000" cy="47548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1005840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 =  0.70 × Automated Metric  +  0.30 × Human Attestation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591056"/>
            <a:ext cx="1691640" cy="5669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91056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29968" y="159105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29968" y="159105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682496"/>
            <a:ext cx="3566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Automated: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completeness · CCD coverage · narrative count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0" y="1591056"/>
            <a:ext cx="237744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0" y="159105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1682496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Human: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attests data quality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394192" y="1682496"/>
            <a:ext cx="50292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94192" y="168249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74320" y="2185416"/>
            <a:ext cx="1691640" cy="5669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185416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218541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29968" y="218541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94560" y="2276856"/>
            <a:ext cx="3566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Automated: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entries · SHA-256 CCD registry coverage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2185416"/>
            <a:ext cx="237744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43600" y="218541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08192" y="2276856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Human: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reviews audit trail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394192" y="2276856"/>
            <a:ext cx="50292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94192" y="227685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74320" y="2779776"/>
            <a:ext cx="1691640" cy="5669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74320" y="2779776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029968" y="277977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029968" y="277977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94560" y="2871216"/>
            <a:ext cx="3566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Automated: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path coverage in CCD XML (&lt;active_paths&gt; tag)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43600" y="2779776"/>
            <a:ext cx="237744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0" y="277977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08192" y="2871216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Human: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reviews causal paths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394192" y="2871216"/>
            <a:ext cx="50292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394192" y="28712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274320" y="3374136"/>
            <a:ext cx="1691640" cy="5669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74320" y="3374136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029968" y="337413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029968" y="337413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4560" y="3465576"/>
            <a:ext cx="3566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Automated: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rating rate · narrative approval workflow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943600" y="3374136"/>
            <a:ext cx="237744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943600" y="337413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08192" y="3465576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Human: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signs off narratives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94192" y="3465576"/>
            <a:ext cx="50292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394192" y="346557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274320" y="3968496"/>
            <a:ext cx="1691640" cy="5669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4320" y="3968496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029968" y="396849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2029968" y="396849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94560" y="4059936"/>
            <a:ext cx="3566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Automated: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success rate from audit_log (429/5xx retries)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943600" y="3968496"/>
            <a:ext cx="237744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943600" y="3968496"/>
            <a:ext cx="6400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8192" y="4059936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Human: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attests system uptime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8394192" y="4059936"/>
            <a:ext cx="50292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394192" y="40599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18 ADDED: Governance framework de-risks review; KPMG System Card is already fully implemented in layer5_system_card.R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— Python Pipeline with Sequencing Guard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agents/run_pipeline.py  ·  Layer N cannot start until Layer N-1 reports status: success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56032" y="1051560"/>
            <a:ext cx="1389888" cy="111556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56032" y="1106424"/>
            <a:ext cx="13898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6032" y="176479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1-data-ingestion/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664208" y="1399032"/>
            <a:ext cx="310896" cy="420624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75104" y="1051560"/>
            <a:ext cx="1389888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75104" y="1106424"/>
            <a:ext cx="13898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75104" y="176479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2-anomaly-detection/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83280" y="1399032"/>
            <a:ext cx="310896" cy="420624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94176" y="1051560"/>
            <a:ext cx="1389888" cy="1115568"/>
          </a:xfrm>
          <a:prstGeom prst="rect">
            <a:avLst/>
          </a:prstGeom>
          <a:solidFill>
            <a:srgbClr val="016171"/>
          </a:solidFill>
          <a:ln w="12700">
            <a:solidFill>
              <a:srgbClr val="0161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94176" y="1106424"/>
            <a:ext cx="13898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94176" y="176479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3-causal-reasoning/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02352" y="1399032"/>
            <a:ext cx="310896" cy="420624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13248" y="1051560"/>
            <a:ext cx="1389888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13248" y="1106424"/>
            <a:ext cx="13898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13248" y="176479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4-narrative/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C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821424" y="1399032"/>
            <a:ext cx="310896" cy="420624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0" y="1051560"/>
            <a:ext cx="1389888" cy="111556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0" y="1106424"/>
            <a:ext cx="13898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176479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5-orchestrator/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56032" y="2286000"/>
            <a:ext cx="8631936" cy="347472"/>
          </a:xfrm>
          <a:prstGeom prst="rect">
            <a:avLst/>
          </a:prstGeom>
          <a:solidFill>
            <a:srgbClr val="FFF3CD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2860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Sequencing Guard: Orchestrator blocks Layer N dispatch until Layer N-1 returns status: "success" via tool call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27432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(.mcp.json)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74320" y="3063240"/>
            <a:ext cx="8631936" cy="47548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3063240"/>
            <a:ext cx="6400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063240"/>
            <a:ext cx="100584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3063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17320" y="3108960"/>
            <a:ext cx="7269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DB read access — agents query triangles, anomaly_flags, CCDs in real time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74320" y="3611880"/>
            <a:ext cx="8631936" cy="47548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74320" y="3611880"/>
            <a:ext cx="6400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3611880"/>
            <a:ext cx="100584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61188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417320" y="3657600"/>
            <a:ext cx="7269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 to R/, inst/, tests/ — agents inspect DAG spec and validation rules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160520"/>
            <a:ext cx="8631936" cy="47548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74320" y="4160520"/>
            <a:ext cx="6400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4320" y="4160520"/>
            <a:ext cx="100584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16052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417320" y="4206240"/>
            <a:ext cx="7269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execution via tools/mcp_pipeline.py — orchestrator dispatches and monitors each layer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19 ADDED: Multi-agent orchestration in agents/ is a key differentiator not shown in original deck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Clarifications — Proposal vs. Codebase Reconciliation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transparency: four areas where the codebase differs from or exceeds the written proposal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325880" cy="7955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13258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Scope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73352" y="1005840"/>
            <a:ext cx="237744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673352" y="1005840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10972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states Workers Compensation only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33088" y="1005840"/>
            <a:ext cx="265176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33088" y="1005840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10972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LOBs already ingested: WC · Comm Auto · Med Mal · Other Liability (data/schedule_p/*.csv)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76288" y="1005840"/>
            <a:ext cx="201168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76288" y="1005840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1097280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scope increases statistical power; multi-LOB comparisons enrich evaluation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847088"/>
            <a:ext cx="1325880" cy="7955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1847088"/>
            <a:ext cx="13258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Library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73352" y="1847088"/>
            <a:ext cx="237744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673352" y="1847088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193852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references bnlearn for Bayesian network learning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33088" y="1847088"/>
            <a:ext cx="265176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33088" y="1847088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19385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Imports uses dagitty only (Pearl do-calculus). bnlearn is not a dependency.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76288" y="1847088"/>
            <a:ext cx="201168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76288" y="1847088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0" y="1938528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dagitty provides exact d-separation and adjustment sets; approach is more principled for this DAG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688336"/>
            <a:ext cx="1325880" cy="7955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74320" y="2688336"/>
            <a:ext cx="13258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673352" y="2688336"/>
            <a:ext cx="237744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673352" y="2688336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28800" y="277977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 table shows MIT License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33088" y="2688336"/>
            <a:ext cx="265176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133088" y="2688336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97680" y="277977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declared as MPL-2.0 (Mozilla Public License 2.0) — fulfils CAS open-source requirement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76288" y="2688336"/>
            <a:ext cx="201168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876288" y="2688336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40880" y="2779776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MPL-2.0 is file-level copyleft; compatible with proprietary integration while keeping R source open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3529584"/>
            <a:ext cx="1325880" cy="79552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274320" y="3529584"/>
            <a:ext cx="13258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Rating Dimensions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73352" y="3529584"/>
            <a:ext cx="237744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673352" y="3529584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28800" y="362102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Likert dimensions mentioned (e.g., accuracy, clarity, coherence, tone)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33088" y="3529584"/>
            <a:ext cx="265176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133088" y="3529584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97680" y="362102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dimensions in narrative_registry DB schema: accuracy · coherence · tone · completeness · conciseness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76288" y="3529584"/>
            <a:ext cx="2011680" cy="7955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876288" y="3529584"/>
            <a:ext cx="64008" cy="7955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40880" y="3621024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and conciseness added based on actuary usability feedback; richer signal for preference learning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ADDED: Proactive reconciliation of proposal vs. codebase prevents reviewer surprises and demonstrates rigor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DAG — P&amp;C Loss Development  ·  All Shapes Editable in PowerPoint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37744" y="694944"/>
            <a:ext cx="1609344" cy="228600"/>
          </a:xfrm>
          <a:prstGeom prst="roundRect">
            <a:avLst>
              <a:gd name="adj" fmla="val 16000"/>
            </a:avLst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37744" y="69494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L1: Exogenous Shocks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975104" y="694944"/>
            <a:ext cx="1609344" cy="2286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75104" y="69494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L2: Exposure &amp; Mix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712464" y="694944"/>
            <a:ext cx="1609344" cy="2286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69494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L3: Claim Freq / Sev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449824" y="694944"/>
            <a:ext cx="1609344" cy="228600"/>
          </a:xfrm>
          <a:prstGeom prst="roundRect">
            <a:avLst>
              <a:gd name="adj" fmla="val 16000"/>
            </a:avLst>
          </a:prstGeom>
          <a:solidFill>
            <a:srgbClr val="C8922A"/>
          </a:solidFill>
          <a:ln w="12700">
            <a:solidFill>
              <a:srgbClr val="C892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9824" y="69494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Reserve Adequacy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187184" y="694944"/>
            <a:ext cx="1609344" cy="2286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87184" y="69494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Development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960120" y="1316736"/>
            <a:ext cx="685800" cy="402336"/>
          </a:xfrm>
          <a:prstGeom prst="line">
            <a:avLst/>
          </a:prstGeom>
          <a:noFill/>
          <a:ln w="17780">
            <a:solidFill>
              <a:srgbClr val="1C3557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H="1">
            <a:off x="1188720" y="1316736"/>
            <a:ext cx="1737360" cy="1207008"/>
          </a:xfrm>
          <a:prstGeom prst="line">
            <a:avLst/>
          </a:prstGeom>
          <a:noFill/>
          <a:ln w="17780">
            <a:solidFill>
              <a:srgbClr val="1C3557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217920" y="1316736"/>
            <a:ext cx="1005840" cy="1207008"/>
          </a:xfrm>
          <a:prstGeom prst="line">
            <a:avLst/>
          </a:prstGeom>
          <a:noFill/>
          <a:ln w="17780">
            <a:solidFill>
              <a:srgbClr val="1C3557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 flipH="1">
            <a:off x="5303520" y="1316736"/>
            <a:ext cx="2880360" cy="1207008"/>
          </a:xfrm>
          <a:prstGeom prst="line">
            <a:avLst/>
          </a:prstGeom>
          <a:noFill/>
          <a:ln w="17780">
            <a:solidFill>
              <a:srgbClr val="1C3557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359152" y="1920240"/>
            <a:ext cx="4425696" cy="7315"/>
          </a:xfrm>
          <a:prstGeom prst="line">
            <a:avLst/>
          </a:prstGeom>
          <a:noFill/>
          <a:ln w="17780">
            <a:solidFill>
              <a:srgbClr val="02809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645920" y="2121408"/>
            <a:ext cx="1554480" cy="402336"/>
          </a:xfrm>
          <a:prstGeom prst="line">
            <a:avLst/>
          </a:prstGeom>
          <a:noFill/>
          <a:ln w="17780">
            <a:solidFill>
              <a:srgbClr val="02809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389120" y="2121408"/>
            <a:ext cx="914400" cy="402336"/>
          </a:xfrm>
          <a:prstGeom prst="line">
            <a:avLst/>
          </a:prstGeom>
          <a:noFill/>
          <a:ln w="17780">
            <a:solidFill>
              <a:srgbClr val="028090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901952" y="2724912"/>
            <a:ext cx="585216" cy="7315"/>
          </a:xfrm>
          <a:prstGeom prst="line">
            <a:avLst/>
          </a:prstGeom>
          <a:noFill/>
          <a:ln w="17780">
            <a:solidFill>
              <a:srgbClr val="2A9D8F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200400" y="2926080"/>
            <a:ext cx="182880" cy="402336"/>
          </a:xfrm>
          <a:prstGeom prst="line">
            <a:avLst/>
          </a:prstGeom>
          <a:noFill/>
          <a:ln w="17780">
            <a:solidFill>
              <a:srgbClr val="2A9D8F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 flipH="1">
            <a:off x="3383280" y="2926080"/>
            <a:ext cx="1920240" cy="402336"/>
          </a:xfrm>
          <a:prstGeom prst="line">
            <a:avLst/>
          </a:prstGeom>
          <a:noFill/>
          <a:ln w="17780">
            <a:solidFill>
              <a:srgbClr val="2A9D8F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 flipH="1">
            <a:off x="5943600" y="2926080"/>
            <a:ext cx="1280160" cy="402336"/>
          </a:xfrm>
          <a:prstGeom prst="line">
            <a:avLst/>
          </a:prstGeom>
          <a:noFill/>
          <a:ln w="17780">
            <a:solidFill>
              <a:srgbClr val="2A9D8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 flipH="1">
            <a:off x="2011680" y="3730752"/>
            <a:ext cx="1371600" cy="402336"/>
          </a:xfrm>
          <a:prstGeom prst="line">
            <a:avLst/>
          </a:prstGeom>
          <a:noFill/>
          <a:ln w="17780">
            <a:solidFill>
              <a:srgbClr val="C8922A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096512" y="3529584"/>
            <a:ext cx="1133856" cy="7315"/>
          </a:xfrm>
          <a:prstGeom prst="line">
            <a:avLst/>
          </a:prstGeom>
          <a:noFill/>
          <a:ln w="17780">
            <a:solidFill>
              <a:srgbClr val="C8922A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943600" y="3730752"/>
            <a:ext cx="91440" cy="402336"/>
          </a:xfrm>
          <a:prstGeom prst="line">
            <a:avLst/>
          </a:prstGeom>
          <a:noFill/>
          <a:ln w="17780">
            <a:solidFill>
              <a:srgbClr val="C8922A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724912" y="4334256"/>
            <a:ext cx="2596896" cy="7315"/>
          </a:xfrm>
          <a:prstGeom prst="line">
            <a:avLst/>
          </a:prstGeom>
          <a:noFill/>
          <a:ln w="17780">
            <a:solidFill>
              <a:srgbClr val="6B4FA0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4736592" y="4334256"/>
            <a:ext cx="585216" cy="7315"/>
          </a:xfrm>
          <a:prstGeom prst="line">
            <a:avLst/>
          </a:prstGeom>
          <a:noFill/>
          <a:ln w="17780">
            <a:solidFill>
              <a:srgbClr val="6B4FA0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6748272" y="4334256"/>
            <a:ext cx="585216" cy="7315"/>
          </a:xfrm>
          <a:prstGeom prst="line">
            <a:avLst/>
          </a:prstGeom>
          <a:noFill/>
          <a:ln w="17780">
            <a:solidFill>
              <a:srgbClr val="6B4FA0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256032" y="923544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1C355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56032" y="923544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Growth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221992" y="923544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1C355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221992" y="923544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Rate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13832" y="923544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1C355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513832" y="923544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Tort Reform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479792" y="923544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1C355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479792" y="923544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CPI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941832" y="1728216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41832" y="1728216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Growth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85032" y="1728216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85032" y="1728216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Shift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793992" y="1728216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793992" y="1728216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Premium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84632" y="2532888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84632" y="2532888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Frequency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496312" y="2532888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496312" y="2532888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Claims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99432" y="2532888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99432" y="2532888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Case Value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519672" y="2532888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519672" y="2532888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ALAE Ratio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679192" y="3337560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C8922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2679192" y="3337560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Reserve Opening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239512" y="3337560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C8922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5239512" y="3337560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IBNR Emergence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307592" y="4142232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1307592" y="4142232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Factor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319272" y="4142232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319272" y="4142232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Factor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330952" y="4142232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5330952" y="4142232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Loss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342632" y="4142232"/>
            <a:ext cx="1408176" cy="38404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7342632" y="4142232"/>
            <a:ext cx="140817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Ratio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" y="49149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A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nodes and 17 edges are native PPT shapes  ·  Select any node to move, resize or relabel  ·  Tip: copy this slide anywhere in the deck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Intelligence for P&amp;C Loss Reserving — CAS 2026 LLM RFP</dc:title>
  <dc:subject>PptxGenJS Presentation</dc:subject>
  <dc:creator>Arnab Gupta</dc:creator>
  <cp:lastModifiedBy>Arnab Gupta</cp:lastModifiedBy>
  <cp:revision>1</cp:revision>
  <dcterms:created xsi:type="dcterms:W3CDTF">2026-03-23T22:42:04Z</dcterms:created>
  <dcterms:modified xsi:type="dcterms:W3CDTF">2026-03-23T22:42:04Z</dcterms:modified>
</cp:coreProperties>
</file>